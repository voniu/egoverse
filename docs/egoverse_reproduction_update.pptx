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FM A</c:v>
                </c:pt>
              </c:strCache>
            </c:strRef>
          </c:tx>
          <c:spPr>
            <a:solidFill>
              <a:srgbClr val="506982"/>
            </a:solidFill>
            <a:ln>
              <a:noFill/>
            </a:ln>
          </c:spPr>
          <c:dLbls>
            <c:numFmt formatCode="0.0" sourceLinked="0"/>
            <c:txPr>
              <a:bodyPr/>
              <a:lstStyle/>
              <a:p>
                <a:pPr>
                  <a:defRPr sz="700">
                    <a:solidFill>
                      <a:srgbClr val="132238"/>
                    </a:solidFill>
                    <a:latin typeface="Microsoft YaHei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First-step TCP
position</c:v>
                </c:pt>
                <c:pt idx="1">
                  <c:v>30-step TCP
position</c:v>
                </c:pt>
                <c:pt idx="2">
                  <c:v>Adjacent action
displacement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104.73</c:v>
                </c:pt>
                <c:pt idx="1">
                  <c:v>97.12</c:v>
                </c:pt>
                <c:pt idx="2">
                  <c:v>66.19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FM B</c:v>
                </c:pt>
              </c:strCache>
            </c:strRef>
          </c:tx>
          <c:spPr>
            <a:solidFill>
              <a:srgbClr val="93A6B7"/>
            </a:solidFill>
            <a:ln>
              <a:noFill/>
            </a:ln>
          </c:spPr>
          <c:dLbls>
            <c:numFmt formatCode="0.0" sourceLinked="0"/>
            <c:txPr>
              <a:bodyPr/>
              <a:lstStyle/>
              <a:p>
                <a:pPr>
                  <a:defRPr sz="700">
                    <a:solidFill>
                      <a:srgbClr val="132238"/>
                    </a:solidFill>
                    <a:latin typeface="Microsoft YaHei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First-step TCP
position</c:v>
                </c:pt>
                <c:pt idx="1">
                  <c:v>30-step TCP
position</c:v>
                </c:pt>
                <c:pt idx="2">
                  <c:v>Adjacent action
displacement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107.62</c:v>
                </c:pt>
                <c:pt idx="1">
                  <c:v>101.0</c:v>
                </c:pt>
                <c:pt idx="2">
                  <c:v>65.44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MLP A</c:v>
                </c:pt>
              </c:strCache>
            </c:strRef>
          </c:tx>
          <c:spPr>
            <a:solidFill>
              <a:srgbClr val="DC741E"/>
            </a:solidFill>
            <a:ln>
              <a:noFill/>
            </a:ln>
          </c:spPr>
          <c:dLbls>
            <c:numFmt formatCode="0.0" sourceLinked="0"/>
            <c:txPr>
              <a:bodyPr/>
              <a:lstStyle/>
              <a:p>
                <a:pPr>
                  <a:defRPr sz="700">
                    <a:solidFill>
                      <a:srgbClr val="132238"/>
                    </a:solidFill>
                    <a:latin typeface="Microsoft YaHei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First-step TCP
position</c:v>
                </c:pt>
                <c:pt idx="1">
                  <c:v>30-step TCP
position</c:v>
                </c:pt>
                <c:pt idx="2">
                  <c:v>Adjacent action
displacement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30.93</c:v>
                </c:pt>
                <c:pt idx="1">
                  <c:v>49.63</c:v>
                </c:pt>
                <c:pt idx="2">
                  <c:v>13.05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MLP B</c:v>
                </c:pt>
              </c:strCache>
            </c:strRef>
          </c:tx>
          <c:spPr>
            <a:solidFill>
              <a:srgbClr val="F3B27C"/>
            </a:solidFill>
            <a:ln>
              <a:noFill/>
            </a:ln>
          </c:spPr>
          <c:dLbls>
            <c:numFmt formatCode="0.0" sourceLinked="0"/>
            <c:txPr>
              <a:bodyPr/>
              <a:lstStyle/>
              <a:p>
                <a:pPr>
                  <a:defRPr sz="700">
                    <a:solidFill>
                      <a:srgbClr val="132238"/>
                    </a:solidFill>
                    <a:latin typeface="Microsoft YaHei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First-step TCP
position</c:v>
                </c:pt>
                <c:pt idx="1">
                  <c:v>30-step TCP
position</c:v>
                </c:pt>
                <c:pt idx="2">
                  <c:v>Adjacent action
displacement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36.58</c:v>
                </c:pt>
                <c:pt idx="1">
                  <c:v>54.17</c:v>
                </c:pt>
                <c:pt idx="2">
                  <c:v>12.93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Microsoft YaHei"/>
              </a:defRPr>
            </a:pPr>
          </a:p>
        </c:txPr>
        <c:crossAx val="-2068027336"/>
        <c:crosses val="autoZero"/>
        <c:majorUnit val="20.0"/>
      </c:valAx>
    </c:plotArea>
    <c:legend>
      <c:legendPos val="b"/>
      <c:overlay val="0"/>
      <c:txPr>
        <a:bodyPr/>
        <a:lstStyle/>
        <a:p>
          <a:pPr>
            <a:defRPr sz="800">
              <a:latin typeface="Microsoft YaHe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9080" cy="64008"/>
          </a:xfrm>
          <a:prstGeom prst="rect">
            <a:avLst/>
          </a:prstGeom>
          <a:solidFill>
            <a:srgbClr val="008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9080" y="0"/>
            <a:ext cx="4069080" cy="64008"/>
          </a:xfrm>
          <a:prstGeom prst="rect">
            <a:avLst/>
          </a:prstGeom>
          <a:solidFill>
            <a:srgbClr val="655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38160" y="0"/>
            <a:ext cx="4053535" cy="64008"/>
          </a:xfrm>
          <a:prstGeom prst="rect">
            <a:avLst/>
          </a:prstGeom>
          <a:solidFill>
            <a:srgbClr val="E47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7315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6555B5"/>
                </a:solidFill>
                <a:latin typeface="Microsoft YaHei"/>
              </a:rPr>
              <a:t>EGOVERSE REPRODUCTION · CURRENT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"/>
            <a:ext cx="1115568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132238"/>
                </a:solidFill>
                <a:latin typeface="Microsoft YaHei"/>
              </a:rPr>
              <a:t>Model Architecture｜双域、共享 HPT、双动作头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50392"/>
            <a:ext cx="107899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07084"/>
                </a:solidFill>
                <a:latin typeface="Microsoft YaHei"/>
              </a:rPr>
              <a:t>A/B × MLP / Flow Matching · action horizon =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607084"/>
                </a:solidFill>
                <a:latin typeface="Microsoft YaHei"/>
              </a:rPr>
              <a:t>1 /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19659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607084"/>
                </a:solidFill>
                <a:latin typeface="Microsoft YaHei"/>
              </a:rPr>
              <a:t>1 ·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0048" y="1170432"/>
            <a:ext cx="148132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607084"/>
                </a:solidFill>
                <a:latin typeface="Microsoft YaHei"/>
              </a:rPr>
              <a:t>2 · ENCODER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8" y="1170432"/>
            <a:ext cx="16459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607084"/>
                </a:solidFill>
                <a:latin typeface="Microsoft YaHei"/>
              </a:rPr>
              <a:t>3 · HPT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170432"/>
            <a:ext cx="19659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607084"/>
                </a:solidFill>
                <a:latin typeface="Microsoft YaHei"/>
              </a:rPr>
              <a:t>4 · ACTION HEADS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352" y="1170432"/>
            <a:ext cx="19659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607084"/>
                </a:solidFill>
                <a:latin typeface="Microsoft YaHei"/>
              </a:rPr>
              <a:t>5 · OUTPUT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417320"/>
            <a:ext cx="1965960" cy="1554480"/>
          </a:xfrm>
          <a:prstGeom prst="roundRect">
            <a:avLst/>
          </a:prstGeom>
          <a:solidFill>
            <a:srgbClr val="FFFDFA"/>
          </a:solidFill>
          <a:ln w="12700">
            <a:solidFill>
              <a:srgbClr val="D9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1417320"/>
            <a:ext cx="64008" cy="1554480"/>
          </a:xfrm>
          <a:prstGeom prst="rect">
            <a:avLst/>
          </a:prstGeom>
          <a:solidFill>
            <a:srgbClr val="008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1508760"/>
            <a:ext cx="17373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08B92"/>
                </a:solidFill>
                <a:latin typeface="Microsoft YaHei"/>
              </a:rPr>
              <a:t>Piper domain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1773936"/>
            <a:ext cx="1755648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50" b="1">
                <a:solidFill>
                  <a:srgbClr val="132238"/>
                </a:solidFill>
                <a:latin typeface="Microsoft YaHei"/>
              </a:rPr>
              <a:t>Front RGB + Wrist RGB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607084"/>
                </a:solidFill>
                <a:latin typeface="Microsoft YaHei"/>
              </a:rPr>
              <a:t>2 × [B, 3, 224, 224]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50" b="1">
                <a:solidFill>
                  <a:srgbClr val="132238"/>
                </a:solidFill>
                <a:latin typeface="Microsoft YaHei"/>
              </a:rPr>
              <a:t>Hardware state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19" b="0">
                <a:solidFill>
                  <a:srgbClr val="607084"/>
                </a:solidFill>
                <a:latin typeface="Microsoft YaHei"/>
              </a:rPr>
              <a:t>[q₁…q₆, gripper] = [B, 7]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072384"/>
            <a:ext cx="1965960" cy="1554480"/>
          </a:xfrm>
          <a:prstGeom prst="roundRect">
            <a:avLst/>
          </a:prstGeom>
          <a:solidFill>
            <a:srgbClr val="FFFDFA"/>
          </a:solidFill>
          <a:ln w="12700">
            <a:solidFill>
              <a:srgbClr val="D9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072384"/>
            <a:ext cx="64008" cy="1554480"/>
          </a:xfrm>
          <a:prstGeom prst="rect">
            <a:avLst/>
          </a:prstGeom>
          <a:solidFill>
            <a:srgbClr val="E47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163824"/>
            <a:ext cx="17373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47C24"/>
                </a:solidFill>
                <a:latin typeface="Microsoft YaHei"/>
              </a:rPr>
              <a:t>Aria domain · B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3429000"/>
            <a:ext cx="1755648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50" b="1">
                <a:solidFill>
                  <a:srgbClr val="132238"/>
                </a:solidFill>
                <a:latin typeface="Microsoft YaHei"/>
              </a:rPr>
              <a:t>Egocentric RGB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607084"/>
                </a:solidFill>
                <a:latin typeface="Microsoft YaHei"/>
              </a:rPr>
              <a:t>[B, 3, 224, 224]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50" b="1">
                <a:solidFill>
                  <a:srgbClr val="132238"/>
                </a:solidFill>
                <a:latin typeface="Microsoft YaHei"/>
              </a:rPr>
              <a:t>Left-hand EE pose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607084"/>
                </a:solidFill>
                <a:latin typeface="Microsoft YaHei"/>
              </a:rPr>
              <a:t>[xyz, yaw/pitch/roll] = [B, 6]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70048" y="1417320"/>
            <a:ext cx="1481328" cy="3209544"/>
          </a:xfrm>
          <a:prstGeom prst="roundRect">
            <a:avLst/>
          </a:prstGeom>
          <a:solidFill>
            <a:srgbClr val="FFFDFA"/>
          </a:solidFill>
          <a:ln w="12700">
            <a:solidFill>
              <a:srgbClr val="D9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70048" y="1417320"/>
            <a:ext cx="64008" cy="3209544"/>
          </a:xfrm>
          <a:prstGeom prst="rect">
            <a:avLst/>
          </a:prstGeom>
          <a:solidFill>
            <a:srgbClr val="655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07208" y="1508760"/>
            <a:ext cx="125272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555B5"/>
                </a:solidFill>
                <a:latin typeface="Microsoft YaHei"/>
              </a:rPr>
              <a:t>Domain-aware stems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1773936"/>
            <a:ext cx="1271016" cy="279806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50" b="1">
                <a:solidFill>
                  <a:srgbClr val="132238"/>
                </a:solidFill>
                <a:latin typeface="Microsoft YaHei"/>
              </a:rPr>
              <a:t>ResNet18 / image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850" b="0">
                <a:solidFill>
                  <a:srgbClr val="607084"/>
                </a:solidFill>
                <a:latin typeface="Microsoft YaHei"/>
              </a:rPr>
              <a:t>[B, 49, 256]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50" b="1">
                <a:solidFill>
                  <a:srgbClr val="132238"/>
                </a:solidFill>
                <a:latin typeface="Microsoft YaHei"/>
              </a:rPr>
              <a:t>State MLP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850" b="0">
                <a:solidFill>
                  <a:srgbClr val="607084"/>
                </a:solidFill>
                <a:latin typeface="Microsoft YaHei"/>
              </a:rPr>
              <a:t>[B, 1, 256]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50" b="1">
                <a:solidFill>
                  <a:srgbClr val="132238"/>
                </a:solidFill>
                <a:latin typeface="Microsoft YaHei"/>
              </a:rPr>
              <a:t>Cross Attention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770" b="0">
                <a:solidFill>
                  <a:srgbClr val="607084"/>
                </a:solidFill>
                <a:latin typeface="Microsoft YaHei"/>
              </a:rPr>
              <a:t>each modality → [B, 16, 256]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40" b="0">
                <a:solidFill>
                  <a:srgbClr val="607084"/>
                </a:solidFill>
                <a:latin typeface="Microsoft YaHei"/>
              </a:rPr>
              <a:t>主视角 encoder 共享；腕部与 proprio stem 为 Piper 专用。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07408" y="1417320"/>
            <a:ext cx="1645920" cy="3209544"/>
          </a:xfrm>
          <a:prstGeom prst="roundRect">
            <a:avLst/>
          </a:prstGeom>
          <a:solidFill>
            <a:srgbClr val="FFFDFA"/>
          </a:solidFill>
          <a:ln w="12700">
            <a:solidFill>
              <a:srgbClr val="D9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07408" y="1417320"/>
            <a:ext cx="64008" cy="3209544"/>
          </a:xfrm>
          <a:prstGeom prst="rect">
            <a:avLst/>
          </a:prstGeom>
          <a:solidFill>
            <a:srgbClr val="655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44568" y="1508760"/>
            <a:ext cx="14173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555B5"/>
                </a:solidFill>
                <a:latin typeface="Microsoft YaHei"/>
              </a:rPr>
              <a:t>Shared HPT trunk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1773936"/>
            <a:ext cx="1435608" cy="279806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50" b="1">
                <a:solidFill>
                  <a:srgbClr val="132238"/>
                </a:solidFill>
                <a:latin typeface="Microsoft YaHei"/>
              </a:rPr>
              <a:t>16 Transformer blocks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819" b="0">
                <a:solidFill>
                  <a:srgbClr val="607084"/>
                </a:solidFill>
                <a:latin typeface="Microsoft YaHei"/>
              </a:rPr>
              <a:t>width 256 · 8 heads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50" b="1">
                <a:solidFill>
                  <a:srgbClr val="132238"/>
                </a:solidFill>
                <a:latin typeface="Microsoft YaHei"/>
              </a:rPr>
              <a:t>Piper tokens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780" b="0">
                <a:solidFill>
                  <a:srgbClr val="607084"/>
                </a:solidFill>
                <a:latin typeface="Microsoft YaHei"/>
              </a:rPr>
              <a:t>30 + 3×16 = [B, 78, 256]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50" b="1">
                <a:solidFill>
                  <a:srgbClr val="132238"/>
                </a:solidFill>
                <a:latin typeface="Microsoft YaHei"/>
              </a:rPr>
              <a:t>Human tokens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780" b="0">
                <a:solidFill>
                  <a:srgbClr val="607084"/>
                </a:solidFill>
                <a:latin typeface="Microsoft YaHei"/>
              </a:rPr>
              <a:t>30 + 2×16 = [B, 62, 256]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50" b="1">
                <a:solidFill>
                  <a:srgbClr val="132238"/>
                </a:solidFill>
                <a:latin typeface="Microsoft YaHei"/>
              </a:rPr>
              <a:t>Action features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819" b="0">
                <a:solidFill>
                  <a:srgbClr val="607084"/>
                </a:solidFill>
                <a:latin typeface="Microsoft YaHei"/>
              </a:rPr>
              <a:t>h = [B, 30, 256]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607084"/>
                </a:solidFill>
                <a:latin typeface="Microsoft YaHei"/>
              </a:rPr>
              <a:t>B: shared trunk + domain embedding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1417320"/>
            <a:ext cx="1965960" cy="1554480"/>
          </a:xfrm>
          <a:prstGeom prst="roundRect">
            <a:avLst/>
          </a:prstGeom>
          <a:solidFill>
            <a:srgbClr val="FFFDFA"/>
          </a:solidFill>
          <a:ln w="12700">
            <a:solidFill>
              <a:srgbClr val="D9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1417320"/>
            <a:ext cx="64008" cy="1554480"/>
          </a:xfrm>
          <a:prstGeom prst="rect">
            <a:avLst/>
          </a:prstGeom>
          <a:solidFill>
            <a:srgbClr val="655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1508760"/>
            <a:ext cx="17373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555B5"/>
                </a:solidFill>
                <a:latin typeface="Microsoft YaHei"/>
              </a:rPr>
              <a:t>Cartesian pose head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232" y="1773936"/>
            <a:ext cx="1755648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819" b="0">
                <a:solidFill>
                  <a:srgbClr val="607084"/>
                </a:solidFill>
                <a:latin typeface="Microsoft YaHei"/>
              </a:rPr>
              <a:t>Piper D=7 · Human D=6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819" b="1">
                <a:solidFill>
                  <a:srgbClr val="DC741E"/>
                </a:solidFill>
                <a:latin typeface="Microsoft YaHei"/>
              </a:rPr>
              <a:t>MLP: deterministic chunk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00" b="1">
                <a:solidFill>
                  <a:srgbClr val="506982"/>
                </a:solidFill>
                <a:latin typeface="Microsoft YaHei"/>
              </a:rPr>
              <a:t>FM: 6-block CrossTransformer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0" b="0">
                <a:solidFill>
                  <a:srgbClr val="607084"/>
                </a:solidFill>
                <a:latin typeface="Microsoft YaHei"/>
              </a:rPr>
              <a:t>128D · 4 heads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3072384"/>
            <a:ext cx="1965960" cy="1554480"/>
          </a:xfrm>
          <a:prstGeom prst="roundRect">
            <a:avLst/>
          </a:prstGeom>
          <a:solidFill>
            <a:srgbClr val="FFFDFA"/>
          </a:solidFill>
          <a:ln w="12700">
            <a:solidFill>
              <a:srgbClr val="D9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60" y="3072384"/>
            <a:ext cx="64008" cy="1554480"/>
          </a:xfrm>
          <a:prstGeom prst="rect">
            <a:avLst/>
          </a:prstGeom>
          <a:solidFill>
            <a:srgbClr val="008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3163824"/>
            <a:ext cx="17373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08B92"/>
                </a:solidFill>
                <a:latin typeface="Microsoft YaHei"/>
              </a:rPr>
              <a:t>Piper joint head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8232" y="3429000"/>
            <a:ext cx="1755648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819" b="0">
                <a:solidFill>
                  <a:srgbClr val="607084"/>
                </a:solidFill>
                <a:latin typeface="Microsoft YaHei"/>
              </a:rPr>
              <a:t>Piper only · D=7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819" b="1">
                <a:solidFill>
                  <a:srgbClr val="DC741E"/>
                </a:solidFill>
                <a:latin typeface="Microsoft YaHei"/>
              </a:rPr>
              <a:t>MLP: hidden 256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800" b="1">
                <a:solidFill>
                  <a:srgbClr val="506982"/>
                </a:solidFill>
                <a:latin typeface="Microsoft YaHei"/>
              </a:rPr>
              <a:t>FM: 50 inference steps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0" b="0">
                <a:solidFill>
                  <a:srgbClr val="607084"/>
                </a:solidFill>
                <a:latin typeface="Microsoft YaHei"/>
              </a:rPr>
              <a:t>同一 HPT feature，独立监督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31352" y="1417320"/>
            <a:ext cx="1965960" cy="1554480"/>
          </a:xfrm>
          <a:prstGeom prst="roundRect">
            <a:avLst/>
          </a:prstGeom>
          <a:solidFill>
            <a:srgbClr val="FFFDFA"/>
          </a:solidFill>
          <a:ln w="12700">
            <a:solidFill>
              <a:srgbClr val="D9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31352" y="1417320"/>
            <a:ext cx="64008" cy="1554480"/>
          </a:xfrm>
          <a:prstGeom prst="rect">
            <a:avLst/>
          </a:prstGeom>
          <a:solidFill>
            <a:srgbClr val="278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68512" y="1508760"/>
            <a:ext cx="17373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27815E"/>
                </a:solidFill>
                <a:latin typeface="Microsoft YaHei"/>
              </a:rPr>
              <a:t>Geometry supervision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50224" y="1773936"/>
            <a:ext cx="1755648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30" b="1">
                <a:solidFill>
                  <a:srgbClr val="132238"/>
                </a:solidFill>
                <a:latin typeface="Microsoft YaHei"/>
              </a:rPr>
              <a:t>Robot actions_cartesian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819" b="0">
                <a:solidFill>
                  <a:srgbClr val="607084"/>
                </a:solidFill>
                <a:latin typeface="Microsoft YaHei"/>
              </a:rPr>
              <a:t>[B, 30, 7]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30" b="1">
                <a:solidFill>
                  <a:srgbClr val="132238"/>
                </a:solidFill>
                <a:latin typeface="Microsoft YaHei"/>
              </a:rPr>
              <a:t>Human actions_cartesian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819" b="0">
                <a:solidFill>
                  <a:srgbClr val="607084"/>
                </a:solidFill>
                <a:latin typeface="Microsoft YaHei"/>
              </a:rPr>
              <a:t>[B, 30, 6]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607084"/>
                </a:solidFill>
                <a:latin typeface="Microsoft YaHei"/>
              </a:rPr>
              <a:t>xyz + yaw/pitch/roll (+ gripper)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31352" y="3072384"/>
            <a:ext cx="1965960" cy="1554480"/>
          </a:xfrm>
          <a:prstGeom prst="roundRect">
            <a:avLst/>
          </a:prstGeom>
          <a:solidFill>
            <a:srgbClr val="FFFDFA"/>
          </a:solidFill>
          <a:ln w="12700">
            <a:solidFill>
              <a:srgbClr val="D9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531352" y="3072384"/>
            <a:ext cx="64008" cy="1554480"/>
          </a:xfrm>
          <a:prstGeom prst="rect">
            <a:avLst/>
          </a:prstGeom>
          <a:solidFill>
            <a:srgbClr val="278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68512" y="3163824"/>
            <a:ext cx="17373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27815E"/>
                </a:solidFill>
                <a:latin typeface="Microsoft YaHei"/>
              </a:rPr>
              <a:t>Robot deployment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50224" y="3429000"/>
            <a:ext cx="1755648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819" b="1">
                <a:solidFill>
                  <a:srgbClr val="132238"/>
                </a:solidFill>
                <a:latin typeface="Microsoft YaHei"/>
              </a:rPr>
              <a:t>actions_joints [B, 30, 7]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800" b="0">
                <a:solidFill>
                  <a:srgbClr val="607084"/>
                </a:solidFill>
                <a:latin typeface="Microsoft YaHei"/>
              </a:rPr>
              <a:t>6 absolute joint targets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800" b="0">
                <a:solidFill>
                  <a:srgbClr val="607084"/>
                </a:solidFill>
                <a:latin typeface="Microsoft YaHei"/>
              </a:rPr>
              <a:t>+ continuous gripper opening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30" b="1">
                <a:solidFill>
                  <a:srgbClr val="27815E"/>
                </a:solidFill>
                <a:latin typeface="Microsoft YaHei"/>
              </a:rPr>
              <a:t>Direct joint control · no IK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450592" y="2999232"/>
            <a:ext cx="182880" cy="0"/>
          </a:xfrm>
          <a:prstGeom prst="line">
            <a:avLst/>
          </a:prstGeom>
          <a:ln w="25400">
            <a:solidFill>
              <a:srgbClr val="6555B5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178808" y="2999232"/>
            <a:ext cx="192024" cy="0"/>
          </a:xfrm>
          <a:prstGeom prst="line">
            <a:avLst/>
          </a:prstGeom>
          <a:ln w="25400">
            <a:solidFill>
              <a:srgbClr val="6555B5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080760" y="2999232"/>
            <a:ext cx="192024" cy="0"/>
          </a:xfrm>
          <a:prstGeom prst="line">
            <a:avLst/>
          </a:prstGeom>
          <a:ln w="25400">
            <a:solidFill>
              <a:srgbClr val="6555B5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302752" y="2999232"/>
            <a:ext cx="192024" cy="0"/>
          </a:xfrm>
          <a:prstGeom prst="line">
            <a:avLst/>
          </a:prstGeom>
          <a:ln w="25400">
            <a:solidFill>
              <a:srgbClr val="6555B5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457200" y="5074920"/>
            <a:ext cx="2423160" cy="1170432"/>
          </a:xfrm>
          <a:prstGeom prst="roundRect">
            <a:avLst/>
          </a:prstGeom>
          <a:solidFill>
            <a:srgbClr val="FFFDFA"/>
          </a:solidFill>
          <a:ln w="12700">
            <a:solidFill>
              <a:srgbClr val="D9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6928" y="5157216"/>
            <a:ext cx="2203704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32238"/>
                </a:solidFill>
                <a:latin typeface="Microsoft YaHei"/>
              </a:rPr>
              <a:t>MLP head loss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" y="5385816"/>
            <a:ext cx="2203704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607084"/>
                </a:solidFill>
                <a:latin typeface="Microsoft YaHei"/>
              </a:rPr>
              <a:t>Normalized chunk MSE；无额外 rotation geodesic 项。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" y="5824728"/>
            <a:ext cx="2203704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32238"/>
                </a:solidFill>
                <a:latin typeface="Microsoft YaHei"/>
              </a:rPr>
              <a:t>L_MLP = MSE(a_hat, a)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990088" y="5074920"/>
            <a:ext cx="3063240" cy="1170432"/>
          </a:xfrm>
          <a:prstGeom prst="roundRect">
            <a:avLst/>
          </a:prstGeom>
          <a:solidFill>
            <a:srgbClr val="FFFDFA"/>
          </a:solidFill>
          <a:ln w="12700">
            <a:solidFill>
              <a:srgbClr val="D9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99816" y="5157216"/>
            <a:ext cx="2843784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32238"/>
                </a:solidFill>
                <a:latin typeface="Microsoft YaHei"/>
              </a:rPr>
              <a:t>Flow Matching head loss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99816" y="5385816"/>
            <a:ext cx="2843784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607084"/>
                </a:solidFill>
                <a:latin typeface="Microsoft YaHei"/>
              </a:rPr>
              <a:t>t~Beta(1.5,1); x_t=t eps+(1−t)a; target u_t=eps−a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99816" y="5824728"/>
            <a:ext cx="2843784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32238"/>
                </a:solidFill>
                <a:latin typeface="Microsoft YaHei"/>
              </a:rPr>
              <a:t>L_FM = E ||v_theta(x_t,t,h) − u_t||²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63056" y="5074920"/>
            <a:ext cx="1920240" cy="1170432"/>
          </a:xfrm>
          <a:prstGeom prst="roundRect">
            <a:avLst/>
          </a:prstGeom>
          <a:solidFill>
            <a:srgbClr val="FFFDFA"/>
          </a:solidFill>
          <a:ln w="12700">
            <a:solidFill>
              <a:srgbClr val="D9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72784" y="5157216"/>
            <a:ext cx="1700784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32238"/>
                </a:solidFill>
                <a:latin typeface="Microsoft YaHei"/>
              </a:rPr>
              <a:t>A · robot only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72784" y="5385816"/>
            <a:ext cx="1700784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607084"/>
                </a:solidFill>
                <a:latin typeface="Microsoft YaHei"/>
              </a:rPr>
              <a:t>Pose 与 joint 两个 head 等权相加。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72784" y="5824728"/>
            <a:ext cx="1700784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32238"/>
                </a:solidFill>
                <a:latin typeface="Microsoft YaHei"/>
              </a:rPr>
              <a:t>L_A = L_r,pose + L_r,joint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193024" y="5074920"/>
            <a:ext cx="3538728" cy="1170432"/>
          </a:xfrm>
          <a:prstGeom prst="roundRect">
            <a:avLst/>
          </a:prstGeom>
          <a:solidFill>
            <a:srgbClr val="FFFDFA"/>
          </a:solidFill>
          <a:ln w="12700">
            <a:solidFill>
              <a:srgbClr val="D9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02752" y="5157216"/>
            <a:ext cx="331927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32238"/>
                </a:solidFill>
                <a:latin typeface="Microsoft YaHei"/>
              </a:rPr>
              <a:t>B · robot + human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02752" y="5385816"/>
            <a:ext cx="3319272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607084"/>
                </a:solidFill>
                <a:latin typeface="Microsoft YaHei"/>
              </a:rPr>
              <a:t>每 step 各取一个 domain batch；最终对两域求均值。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02752" y="5824728"/>
            <a:ext cx="3319272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32238"/>
                </a:solidFill>
                <a:latin typeface="Microsoft YaHei"/>
              </a:rPr>
              <a:t>L_B = ½(L_r,pose + L_r,joint) + ½L_h,pose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9080" cy="64008"/>
          </a:xfrm>
          <a:prstGeom prst="rect">
            <a:avLst/>
          </a:prstGeom>
          <a:solidFill>
            <a:srgbClr val="008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9080" y="0"/>
            <a:ext cx="4069080" cy="64008"/>
          </a:xfrm>
          <a:prstGeom prst="rect">
            <a:avLst/>
          </a:prstGeom>
          <a:solidFill>
            <a:srgbClr val="655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38160" y="0"/>
            <a:ext cx="4053535" cy="64008"/>
          </a:xfrm>
          <a:prstGeom prst="rect">
            <a:avLst/>
          </a:prstGeom>
          <a:solidFill>
            <a:srgbClr val="E47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7315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6555B5"/>
                </a:solidFill>
                <a:latin typeface="Microsoft YaHei"/>
              </a:rPr>
              <a:t>TRAINING &amp; OFFLINE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"/>
            <a:ext cx="1115568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132238"/>
                </a:solidFill>
                <a:latin typeface="Microsoft YaHei"/>
              </a:rPr>
              <a:t>Training Configuration｜训练设置与离线结果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50392"/>
            <a:ext cx="107899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07084"/>
                </a:solidFill>
                <a:latin typeface="Microsoft YaHei"/>
              </a:rPr>
              <a:t>固定 robot validation split：7 episodes · 2,381 frames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4114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607084"/>
                </a:solidFill>
                <a:latin typeface="Microsoft YaHei"/>
              </a:rPr>
              <a:t>2 /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61872"/>
            <a:ext cx="2743200" cy="941832"/>
          </a:xfrm>
          <a:prstGeom prst="roundRect">
            <a:avLst/>
          </a:prstGeom>
          <a:solidFill>
            <a:srgbClr val="FF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61872"/>
            <a:ext cx="2743200" cy="45720"/>
          </a:xfrm>
          <a:prstGeom prst="rect">
            <a:avLst/>
          </a:prstGeom>
          <a:solidFill>
            <a:srgbClr val="008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371600"/>
            <a:ext cx="2523744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32238"/>
                </a:solidFill>
                <a:latin typeface="Microsoft YaHei"/>
              </a:rPr>
              <a:t>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591055"/>
            <a:ext cx="2523744" cy="5120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70" b="0">
                <a:solidFill>
                  <a:srgbClr val="607084"/>
                </a:solidFill>
                <a:latin typeface="Microsoft YaHei"/>
              </a:rPr>
              <a:t>A: 63 Piper episodes · 22,406 frames
B: A + 45 Aria episodes · 7,546 frames
Split seed = 42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1261872"/>
            <a:ext cx="2423160" cy="941832"/>
          </a:xfrm>
          <a:prstGeom prst="roundRect">
            <a:avLst/>
          </a:prstGeom>
          <a:solidFill>
            <a:srgbClr val="FF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0128" y="1261872"/>
            <a:ext cx="2423160" cy="45720"/>
          </a:xfrm>
          <a:prstGeom prst="rect">
            <a:avLst/>
          </a:prstGeom>
          <a:solidFill>
            <a:srgbClr val="E47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1371600"/>
            <a:ext cx="2203704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32238"/>
                </a:solidFill>
                <a:latin typeface="Microsoft YaHei"/>
              </a:rPr>
              <a:t>Optimization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9856" y="1591055"/>
            <a:ext cx="2203704" cy="5120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70" b="0">
                <a:solidFill>
                  <a:srgbClr val="607084"/>
                </a:solidFill>
                <a:latin typeface="Microsoft YaHei"/>
              </a:rPr>
              <a:t>10,000 updates · batch 8/domain
AdamW · lr 1e−4 · wd 1e−4
cosine → 1e−5 · BF16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43016" y="1261872"/>
            <a:ext cx="2423160" cy="941832"/>
          </a:xfrm>
          <a:prstGeom prst="roundRect">
            <a:avLst/>
          </a:prstGeom>
          <a:solidFill>
            <a:srgbClr val="FF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43016" y="1261872"/>
            <a:ext cx="2423160" cy="45720"/>
          </a:xfrm>
          <a:prstGeom prst="rect">
            <a:avLst/>
          </a:prstGeom>
          <a:solidFill>
            <a:srgbClr val="655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52744" y="1371600"/>
            <a:ext cx="2203704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32238"/>
                </a:solidFill>
                <a:latin typeface="Microsoft YaHei"/>
              </a:rPr>
              <a:t>Sequence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52744" y="1591055"/>
            <a:ext cx="2203704" cy="5120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70" b="0">
                <a:solidFill>
                  <a:srgbClr val="607084"/>
                </a:solidFill>
                <a:latin typeface="Microsoft YaHei"/>
              </a:rPr>
              <a:t>30 Hz · observation horizon 1
action horizon 30 = 1.0 s
RGB 224² + ColorJitter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75904" y="1261872"/>
            <a:ext cx="3355848" cy="941832"/>
          </a:xfrm>
          <a:prstGeom prst="roundRect">
            <a:avLst/>
          </a:prstGeom>
          <a:solidFill>
            <a:srgbClr val="FF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75904" y="1261872"/>
            <a:ext cx="3355848" cy="45720"/>
          </a:xfrm>
          <a:prstGeom prst="rect">
            <a:avLst/>
          </a:prstGeom>
          <a:solidFill>
            <a:srgbClr val="655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85632" y="1371600"/>
            <a:ext cx="3136391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32238"/>
                </a:solidFill>
                <a:latin typeface="Microsoft YaHei"/>
              </a:rPr>
              <a:t>Compared variants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85632" y="1591055"/>
            <a:ext cx="3136391" cy="5120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70" b="0">
                <a:solidFill>
                  <a:srgbClr val="607084"/>
                </a:solidFill>
                <a:latin typeface="Microsoft YaHei"/>
              </a:rPr>
              <a:t>A+MLP · B+MLP · A+FM · B+FM
same HPT trunk and robot split
FM uses fixed inference seeds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2331720"/>
            <a:ext cx="6400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32238"/>
                </a:solidFill>
                <a:latin typeface="Microsoft YaHei"/>
              </a:rPr>
              <a:t>Offline Cartesian benchmark（越低越好）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457200" y="2606040"/>
          <a:ext cx="8732520" cy="33192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9372600" y="2331720"/>
            <a:ext cx="2359152" cy="3593592"/>
          </a:xfrm>
          <a:prstGeom prst="roundRect">
            <a:avLst/>
          </a:prstGeom>
          <a:solidFill>
            <a:srgbClr val="FFFDFA"/>
          </a:solidFill>
          <a:ln w="12700">
            <a:solidFill>
              <a:srgbClr val="D9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37192" y="2496312"/>
            <a:ext cx="20116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32238"/>
                </a:solidFill>
                <a:latin typeface="Microsoft YaHei"/>
              </a:rPr>
              <a:t>Additional metrics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9528048" y="2816352"/>
          <a:ext cx="2029968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6384"/>
                <a:gridCol w="566928"/>
                <a:gridCol w="676656"/>
              </a:tblGrid>
              <a:tr h="296265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607084"/>
                          </a:solidFill>
                          <a:latin typeface="Microsoft YaHei"/>
                        </a:rPr>
                        <a:t>Model</a:t>
                      </a:r>
                    </a:p>
                  </a:txBody>
                  <a:tcPr marL="27432" marR="27432" marT="18288" marB="18288">
                    <a:solidFill>
                      <a:srgbClr val="E9E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1">
                          <a:solidFill>
                            <a:srgbClr val="607084"/>
                          </a:solidFill>
                          <a:latin typeface="Microsoft YaHei"/>
                        </a:rPr>
                        <a:t>Rot. °</a:t>
                      </a:r>
                    </a:p>
                  </a:txBody>
                  <a:tcPr marL="27432" marR="27432" marT="18288" marB="18288">
                    <a:solidFill>
                      <a:srgbClr val="E9E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1">
                          <a:solidFill>
                            <a:srgbClr val="607084"/>
                          </a:solidFill>
                          <a:latin typeface="Microsoft YaHei"/>
                        </a:rPr>
                        <a:t>Grip. mm</a:t>
                      </a:r>
                    </a:p>
                  </a:txBody>
                  <a:tcPr marL="27432" marR="27432" marT="18288" marB="18288">
                    <a:solidFill>
                      <a:srgbClr val="E9E5F7"/>
                    </a:solidFill>
                  </a:tcPr>
                </a:tc>
              </a:tr>
              <a:tr h="296265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32238"/>
                          </a:solidFill>
                          <a:latin typeface="Microsoft YaHei"/>
                        </a:rPr>
                        <a:t>FM A</a:t>
                      </a:r>
                    </a:p>
                  </a:txBody>
                  <a:tcPr marL="27432" marR="27432" marT="18288" marB="18288"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32238"/>
                          </a:solidFill>
                          <a:latin typeface="Microsoft YaHei"/>
                        </a:rPr>
                        <a:t>18.44</a:t>
                      </a:r>
                    </a:p>
                  </a:txBody>
                  <a:tcPr marL="27432" marR="27432" marT="18288" marB="18288"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32238"/>
                          </a:solidFill>
                          <a:latin typeface="Microsoft YaHei"/>
                        </a:rPr>
                        <a:t>15.35</a:t>
                      </a:r>
                    </a:p>
                  </a:txBody>
                  <a:tcPr marL="27432" marR="27432" marT="18288" marB="18288">
                    <a:solidFill>
                      <a:srgbClr val="FFFDFA"/>
                    </a:solidFill>
                  </a:tcPr>
                </a:tc>
              </a:tr>
              <a:tr h="296265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32238"/>
                          </a:solidFill>
                          <a:latin typeface="Microsoft YaHei"/>
                        </a:rPr>
                        <a:t>FM B</a:t>
                      </a:r>
                    </a:p>
                  </a:txBody>
                  <a:tcPr marL="27432" marR="27432" marT="18288" marB="18288"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32238"/>
                          </a:solidFill>
                          <a:latin typeface="Microsoft YaHei"/>
                        </a:rPr>
                        <a:t>20.57</a:t>
                      </a:r>
                    </a:p>
                  </a:txBody>
                  <a:tcPr marL="27432" marR="27432" marT="18288" marB="18288"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32238"/>
                          </a:solidFill>
                          <a:latin typeface="Microsoft YaHei"/>
                        </a:rPr>
                        <a:t>14.32</a:t>
                      </a:r>
                    </a:p>
                  </a:txBody>
                  <a:tcPr marL="27432" marR="27432" marT="18288" marB="18288">
                    <a:solidFill>
                      <a:srgbClr val="FFFDFA"/>
                    </a:solidFill>
                  </a:tcPr>
                </a:tc>
              </a:tr>
              <a:tr h="296265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32238"/>
                          </a:solidFill>
                          <a:latin typeface="Microsoft YaHei"/>
                        </a:rPr>
                        <a:t>MLP A</a:t>
                      </a:r>
                    </a:p>
                  </a:txBody>
                  <a:tcPr marL="27432" marR="27432" marT="18288" marB="18288"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32238"/>
                          </a:solidFill>
                          <a:latin typeface="Microsoft YaHei"/>
                        </a:rPr>
                        <a:t>11.06</a:t>
                      </a:r>
                    </a:p>
                  </a:txBody>
                  <a:tcPr marL="27432" marR="27432" marT="18288" marB="18288"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32238"/>
                          </a:solidFill>
                          <a:latin typeface="Microsoft YaHei"/>
                        </a:rPr>
                        <a:t>5.24</a:t>
                      </a:r>
                    </a:p>
                  </a:txBody>
                  <a:tcPr marL="27432" marR="27432" marT="18288" marB="18288">
                    <a:solidFill>
                      <a:srgbClr val="FFFDFA"/>
                    </a:solidFill>
                  </a:tcPr>
                </a:tc>
              </a:tr>
              <a:tr h="29626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32238"/>
                          </a:solidFill>
                          <a:latin typeface="Microsoft YaHei"/>
                        </a:rPr>
                        <a:t>MLP B</a:t>
                      </a:r>
                    </a:p>
                  </a:txBody>
                  <a:tcPr marL="27432" marR="27432" marT="18288" marB="18288"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32238"/>
                          </a:solidFill>
                          <a:latin typeface="Microsoft YaHei"/>
                        </a:rPr>
                        <a:t>12.61</a:t>
                      </a:r>
                    </a:p>
                  </a:txBody>
                  <a:tcPr marL="27432" marR="27432" marT="18288" marB="18288"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32238"/>
                          </a:solidFill>
                          <a:latin typeface="Microsoft YaHei"/>
                        </a:rPr>
                        <a:t>4.95</a:t>
                      </a:r>
                    </a:p>
                  </a:txBody>
                  <a:tcPr marL="27432" marR="27432" marT="18288" marB="18288">
                    <a:solidFill>
                      <a:srgbClr val="FFFDFA"/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9537192" y="4389120"/>
            <a:ext cx="199339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07084"/>
                </a:solidFill>
                <a:latin typeface="Microsoft YaHei"/>
              </a:rPr>
              <a:t>Rot. = 30-step orientation error
Grip. = 30-step gripper MAE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28048" y="4828032"/>
            <a:ext cx="2029968" cy="850392"/>
          </a:xfrm>
          <a:prstGeom prst="roundRect">
            <a:avLst/>
          </a:prstGeom>
          <a:solidFill>
            <a:srgbClr val="DE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19488" y="4910328"/>
            <a:ext cx="184708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008B92"/>
                </a:solidFill>
                <a:latin typeface="Microsoft YaHei"/>
              </a:rPr>
              <a:t>Observed trend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07084"/>
                </a:solidFill>
                <a:latin typeface="Microsoft YaHei"/>
              </a:rPr>
              <a:t>MLP显著降低位置误差与 chunk 内跳动；B 在当前 Piper 原场景验证集上未优于 A。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053328"/>
            <a:ext cx="1106424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07084"/>
                </a:solidFill>
                <a:latin typeface="Microsoft YaHei"/>
              </a:rPr>
              <a:t>Cartesian pose-head完整离线评估；FM为原监控best（A 9.1k / B 9.8k），MLP为10k final。用于阶段性比较，不视为严格单变量因果实验；离线误差不能替代真机成功率。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